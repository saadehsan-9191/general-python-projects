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6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AC538E-F73C-42F4-8719-E7A093CACB8F}" v="11" dt="2025-09-02T16:08:24.8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ad Ehsan" userId="c4da1326b8d2b23e" providerId="LiveId" clId="{21AC538E-F73C-42F4-8719-E7A093CACB8F}"/>
    <pc:docChg chg="custSel modSld">
      <pc:chgData name="Saad Ehsan" userId="c4da1326b8d2b23e" providerId="LiveId" clId="{21AC538E-F73C-42F4-8719-E7A093CACB8F}" dt="2025-09-02T16:08:26.900" v="28" actId="26606"/>
      <pc:docMkLst>
        <pc:docMk/>
      </pc:docMkLst>
      <pc:sldChg chg="modSp mod">
        <pc:chgData name="Saad Ehsan" userId="c4da1326b8d2b23e" providerId="LiveId" clId="{21AC538E-F73C-42F4-8719-E7A093CACB8F}" dt="2025-09-02T16:08:24.883" v="27"/>
        <pc:sldMkLst>
          <pc:docMk/>
          <pc:sldMk cId="0" sldId="256"/>
        </pc:sldMkLst>
        <pc:spChg chg="mod">
          <ac:chgData name="Saad Ehsan" userId="c4da1326b8d2b23e" providerId="LiveId" clId="{21AC538E-F73C-42F4-8719-E7A093CACB8F}" dt="2025-09-02T16:08:24.883" v="27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ad Ehsan" userId="c4da1326b8d2b23e" providerId="LiveId" clId="{21AC538E-F73C-42F4-8719-E7A093CACB8F}" dt="2025-09-02T16:08:24.883" v="27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Saad Ehsan" userId="c4da1326b8d2b23e" providerId="LiveId" clId="{21AC538E-F73C-42F4-8719-E7A093CACB8F}" dt="2025-09-02T16:08:24.883" v="27"/>
        <pc:sldMkLst>
          <pc:docMk/>
          <pc:sldMk cId="0" sldId="257"/>
        </pc:sldMkLst>
        <pc:spChg chg="mod">
          <ac:chgData name="Saad Ehsan" userId="c4da1326b8d2b23e" providerId="LiveId" clId="{21AC538E-F73C-42F4-8719-E7A093CACB8F}" dt="2025-09-02T16:08:24.883" v="27"/>
          <ac:spMkLst>
            <pc:docMk/>
            <pc:sldMk cId="0" sldId="257"/>
            <ac:spMk id="2" creationId="{00000000-0000-0000-0000-000000000000}"/>
          </ac:spMkLst>
        </pc:spChg>
        <pc:spChg chg="mod">
          <ac:chgData name="Saad Ehsan" userId="c4da1326b8d2b23e" providerId="LiveId" clId="{21AC538E-F73C-42F4-8719-E7A093CACB8F}" dt="2025-09-02T16:08:24.883" v="27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Saad Ehsan" userId="c4da1326b8d2b23e" providerId="LiveId" clId="{21AC538E-F73C-42F4-8719-E7A093CACB8F}" dt="2025-09-02T16:08:24.883" v="27"/>
        <pc:sldMkLst>
          <pc:docMk/>
          <pc:sldMk cId="0" sldId="258"/>
        </pc:sldMkLst>
        <pc:spChg chg="mod">
          <ac:chgData name="Saad Ehsan" userId="c4da1326b8d2b23e" providerId="LiveId" clId="{21AC538E-F73C-42F4-8719-E7A093CACB8F}" dt="2025-09-02T16:08:24.883" v="27"/>
          <ac:spMkLst>
            <pc:docMk/>
            <pc:sldMk cId="0" sldId="258"/>
            <ac:spMk id="2" creationId="{00000000-0000-0000-0000-000000000000}"/>
          </ac:spMkLst>
        </pc:spChg>
        <pc:spChg chg="mod">
          <ac:chgData name="Saad Ehsan" userId="c4da1326b8d2b23e" providerId="LiveId" clId="{21AC538E-F73C-42F4-8719-E7A093CACB8F}" dt="2025-09-02T16:08:24.883" v="2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Saad Ehsan" userId="c4da1326b8d2b23e" providerId="LiveId" clId="{21AC538E-F73C-42F4-8719-E7A093CACB8F}" dt="2025-09-02T16:08:24.883" v="27"/>
        <pc:sldMkLst>
          <pc:docMk/>
          <pc:sldMk cId="0" sldId="259"/>
        </pc:sldMkLst>
        <pc:spChg chg="mod">
          <ac:chgData name="Saad Ehsan" userId="c4da1326b8d2b23e" providerId="LiveId" clId="{21AC538E-F73C-42F4-8719-E7A093CACB8F}" dt="2025-09-02T16:08:24.883" v="27"/>
          <ac:spMkLst>
            <pc:docMk/>
            <pc:sldMk cId="0" sldId="259"/>
            <ac:spMk id="2" creationId="{00000000-0000-0000-0000-000000000000}"/>
          </ac:spMkLst>
        </pc:spChg>
        <pc:spChg chg="mod">
          <ac:chgData name="Saad Ehsan" userId="c4da1326b8d2b23e" providerId="LiveId" clId="{21AC538E-F73C-42F4-8719-E7A093CACB8F}" dt="2025-09-02T16:08:24.883" v="27"/>
          <ac:spMkLst>
            <pc:docMk/>
            <pc:sldMk cId="0" sldId="259"/>
            <ac:spMk id="3" creationId="{00000000-0000-0000-0000-000000000000}"/>
          </ac:spMkLst>
        </pc:spChg>
        <pc:spChg chg="mod">
          <ac:chgData name="Saad Ehsan" userId="c4da1326b8d2b23e" providerId="LiveId" clId="{21AC538E-F73C-42F4-8719-E7A093CACB8F}" dt="2025-09-02T16:08:24.883" v="27"/>
          <ac:spMkLst>
            <pc:docMk/>
            <pc:sldMk cId="0" sldId="259"/>
            <ac:spMk id="4" creationId="{00000000-0000-0000-0000-000000000000}"/>
          </ac:spMkLst>
        </pc:spChg>
      </pc:sldChg>
      <pc:sldChg chg="addSp modSp mod setBg">
        <pc:chgData name="Saad Ehsan" userId="c4da1326b8d2b23e" providerId="LiveId" clId="{21AC538E-F73C-42F4-8719-E7A093CACB8F}" dt="2025-09-02T16:08:26.900" v="28" actId="26606"/>
        <pc:sldMkLst>
          <pc:docMk/>
          <pc:sldMk cId="0" sldId="260"/>
        </pc:sldMkLst>
        <pc:spChg chg="mod">
          <ac:chgData name="Saad Ehsan" userId="c4da1326b8d2b23e" providerId="LiveId" clId="{21AC538E-F73C-42F4-8719-E7A093CACB8F}" dt="2025-09-02T16:08:26.900" v="28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Saad Ehsan" userId="c4da1326b8d2b23e" providerId="LiveId" clId="{21AC538E-F73C-42F4-8719-E7A093CACB8F}" dt="2025-09-02T16:08:26.900" v="28" actId="26606"/>
          <ac:spMkLst>
            <pc:docMk/>
            <pc:sldMk cId="0" sldId="260"/>
            <ac:spMk id="3" creationId="{00000000-0000-0000-0000-000000000000}"/>
          </ac:spMkLst>
        </pc:spChg>
        <pc:spChg chg="add">
          <ac:chgData name="Saad Ehsan" userId="c4da1326b8d2b23e" providerId="LiveId" clId="{21AC538E-F73C-42F4-8719-E7A093CACB8F}" dt="2025-09-02T16:08:26.900" v="28" actId="26606"/>
          <ac:spMkLst>
            <pc:docMk/>
            <pc:sldMk cId="0" sldId="260"/>
            <ac:spMk id="10" creationId="{C8A3C342-1D03-412F-8DD3-BF519E8E0AE9}"/>
          </ac:spMkLst>
        </pc:spChg>
        <pc:spChg chg="add">
          <ac:chgData name="Saad Ehsan" userId="c4da1326b8d2b23e" providerId="LiveId" clId="{21AC538E-F73C-42F4-8719-E7A093CACB8F}" dt="2025-09-02T16:08:26.900" v="28" actId="26606"/>
          <ac:spMkLst>
            <pc:docMk/>
            <pc:sldMk cId="0" sldId="260"/>
            <ac:spMk id="12" creationId="{81CC9B02-E087-4350-AEBD-2C3CF001AF01}"/>
          </ac:spMkLst>
        </pc:spChg>
        <pc:picChg chg="add mod">
          <ac:chgData name="Saad Ehsan" userId="c4da1326b8d2b23e" providerId="LiveId" clId="{21AC538E-F73C-42F4-8719-E7A093CACB8F}" dt="2025-09-02T16:08:26.900" v="28" actId="26606"/>
          <ac:picMkLst>
            <pc:docMk/>
            <pc:sldMk cId="0" sldId="260"/>
            <ac:picMk id="5" creationId="{AF6F681C-E744-2F44-A8EF-172E6DDE3B8E}"/>
          </ac:picMkLst>
        </pc:picChg>
      </pc:sldChg>
      <pc:sldChg chg="modSp">
        <pc:chgData name="Saad Ehsan" userId="c4da1326b8d2b23e" providerId="LiveId" clId="{21AC538E-F73C-42F4-8719-E7A093CACB8F}" dt="2025-09-02T16:08:24.883" v="27"/>
        <pc:sldMkLst>
          <pc:docMk/>
          <pc:sldMk cId="0" sldId="261"/>
        </pc:sldMkLst>
        <pc:spChg chg="mod">
          <ac:chgData name="Saad Ehsan" userId="c4da1326b8d2b23e" providerId="LiveId" clId="{21AC538E-F73C-42F4-8719-E7A093CACB8F}" dt="2025-09-02T16:08:24.883" v="27"/>
          <ac:spMkLst>
            <pc:docMk/>
            <pc:sldMk cId="0" sldId="261"/>
            <ac:spMk id="2" creationId="{00000000-0000-0000-0000-000000000000}"/>
          </ac:spMkLst>
        </pc:spChg>
      </pc:sldChg>
      <pc:sldChg chg="modSp">
        <pc:chgData name="Saad Ehsan" userId="c4da1326b8d2b23e" providerId="LiveId" clId="{21AC538E-F73C-42F4-8719-E7A093CACB8F}" dt="2025-09-02T16:08:24.883" v="27"/>
        <pc:sldMkLst>
          <pc:docMk/>
          <pc:sldMk cId="0" sldId="262"/>
        </pc:sldMkLst>
        <pc:spChg chg="mod">
          <ac:chgData name="Saad Ehsan" userId="c4da1326b8d2b23e" providerId="LiveId" clId="{21AC538E-F73C-42F4-8719-E7A093CACB8F}" dt="2025-09-02T16:08:24.883" v="27"/>
          <ac:spMkLst>
            <pc:docMk/>
            <pc:sldMk cId="0" sldId="262"/>
            <ac:spMk id="2" creationId="{00000000-0000-0000-0000-000000000000}"/>
          </ac:spMkLst>
        </pc:spChg>
      </pc:sldChg>
      <pc:sldChg chg="modSp">
        <pc:chgData name="Saad Ehsan" userId="c4da1326b8d2b23e" providerId="LiveId" clId="{21AC538E-F73C-42F4-8719-E7A093CACB8F}" dt="2025-09-02T16:08:24.883" v="27"/>
        <pc:sldMkLst>
          <pc:docMk/>
          <pc:sldMk cId="0" sldId="263"/>
        </pc:sldMkLst>
        <pc:spChg chg="mod">
          <ac:chgData name="Saad Ehsan" userId="c4da1326b8d2b23e" providerId="LiveId" clId="{21AC538E-F73C-42F4-8719-E7A093CACB8F}" dt="2025-09-02T16:08:24.883" v="27"/>
          <ac:spMkLst>
            <pc:docMk/>
            <pc:sldMk cId="0" sldId="263"/>
            <ac:spMk id="2" creationId="{00000000-0000-0000-0000-000000000000}"/>
          </ac:spMkLst>
        </pc:spChg>
        <pc:spChg chg="mod">
          <ac:chgData name="Saad Ehsan" userId="c4da1326b8d2b23e" providerId="LiveId" clId="{21AC538E-F73C-42F4-8719-E7A093CACB8F}" dt="2025-09-02T16:08:24.883" v="27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Saad Ehsan" userId="c4da1326b8d2b23e" providerId="LiveId" clId="{21AC538E-F73C-42F4-8719-E7A093CACB8F}" dt="2025-09-02T16:08:24.883" v="27"/>
        <pc:sldMkLst>
          <pc:docMk/>
          <pc:sldMk cId="0" sldId="264"/>
        </pc:sldMkLst>
        <pc:spChg chg="mod">
          <ac:chgData name="Saad Ehsan" userId="c4da1326b8d2b23e" providerId="LiveId" clId="{21AC538E-F73C-42F4-8719-E7A093CACB8F}" dt="2025-09-02T16:08:24.883" v="27"/>
          <ac:spMkLst>
            <pc:docMk/>
            <pc:sldMk cId="0" sldId="264"/>
            <ac:spMk id="2" creationId="{00000000-0000-0000-0000-000000000000}"/>
          </ac:spMkLst>
        </pc:spChg>
        <pc:spChg chg="mod">
          <ac:chgData name="Saad Ehsan" userId="c4da1326b8d2b23e" providerId="LiveId" clId="{21AC538E-F73C-42F4-8719-E7A093CACB8F}" dt="2025-09-02T16:08:24.883" v="27"/>
          <ac:spMkLst>
            <pc:docMk/>
            <pc:sldMk cId="0" sldId="264"/>
            <ac:spMk id="3" creationId="{00000000-0000-0000-0000-000000000000}"/>
          </ac:spMkLst>
        </pc:spChg>
      </pc:sldChg>
      <pc:sldChg chg="modSp">
        <pc:chgData name="Saad Ehsan" userId="c4da1326b8d2b23e" providerId="LiveId" clId="{21AC538E-F73C-42F4-8719-E7A093CACB8F}" dt="2025-09-02T16:08:24.883" v="27"/>
        <pc:sldMkLst>
          <pc:docMk/>
          <pc:sldMk cId="0" sldId="265"/>
        </pc:sldMkLst>
        <pc:spChg chg="mod">
          <ac:chgData name="Saad Ehsan" userId="c4da1326b8d2b23e" providerId="LiveId" clId="{21AC538E-F73C-42F4-8719-E7A093CACB8F}" dt="2025-09-02T16:08:24.883" v="27"/>
          <ac:spMkLst>
            <pc:docMk/>
            <pc:sldMk cId="0" sldId="265"/>
            <ac:spMk id="2" creationId="{00000000-0000-0000-0000-000000000000}"/>
          </ac:spMkLst>
        </pc:spChg>
        <pc:spChg chg="mod">
          <ac:chgData name="Saad Ehsan" userId="c4da1326b8d2b23e" providerId="LiveId" clId="{21AC538E-F73C-42F4-8719-E7A093CACB8F}" dt="2025-09-02T16:08:24.883" v="27"/>
          <ac:spMkLst>
            <pc:docMk/>
            <pc:sldMk cId="0" sldId="265"/>
            <ac:spMk id="3" creationId="{00000000-0000-0000-0000-000000000000}"/>
          </ac:spMkLst>
        </pc:spChg>
      </pc:sldChg>
      <pc:sldChg chg="modSp">
        <pc:chgData name="Saad Ehsan" userId="c4da1326b8d2b23e" providerId="LiveId" clId="{21AC538E-F73C-42F4-8719-E7A093CACB8F}" dt="2025-09-02T16:08:24.883" v="27"/>
        <pc:sldMkLst>
          <pc:docMk/>
          <pc:sldMk cId="0" sldId="266"/>
        </pc:sldMkLst>
        <pc:spChg chg="mod">
          <ac:chgData name="Saad Ehsan" userId="c4da1326b8d2b23e" providerId="LiveId" clId="{21AC538E-F73C-42F4-8719-E7A093CACB8F}" dt="2025-09-02T16:08:24.883" v="27"/>
          <ac:spMkLst>
            <pc:docMk/>
            <pc:sldMk cId="0" sldId="266"/>
            <ac:spMk id="2" creationId="{00000000-0000-0000-0000-000000000000}"/>
          </ac:spMkLst>
        </pc:spChg>
        <pc:spChg chg="mod">
          <ac:chgData name="Saad Ehsan" userId="c4da1326b8d2b23e" providerId="LiveId" clId="{21AC538E-F73C-42F4-8719-E7A093CACB8F}" dt="2025-09-02T16:08:24.883" v="27"/>
          <ac:spMkLst>
            <pc:docMk/>
            <pc:sldMk cId="0" sldId="266"/>
            <ac:spMk id="3" creationId="{00000000-0000-0000-0000-000000000000}"/>
          </ac:spMkLst>
        </pc:spChg>
      </pc:sldChg>
      <pc:sldChg chg="modSp">
        <pc:chgData name="Saad Ehsan" userId="c4da1326b8d2b23e" providerId="LiveId" clId="{21AC538E-F73C-42F4-8719-E7A093CACB8F}" dt="2025-09-02T16:08:24.883" v="27"/>
        <pc:sldMkLst>
          <pc:docMk/>
          <pc:sldMk cId="0" sldId="267"/>
        </pc:sldMkLst>
        <pc:spChg chg="mod">
          <ac:chgData name="Saad Ehsan" userId="c4da1326b8d2b23e" providerId="LiveId" clId="{21AC538E-F73C-42F4-8719-E7A093CACB8F}" dt="2025-09-02T16:08:24.883" v="27"/>
          <ac:spMkLst>
            <pc:docMk/>
            <pc:sldMk cId="0" sldId="267"/>
            <ac:spMk id="2" creationId="{00000000-0000-0000-0000-000000000000}"/>
          </ac:spMkLst>
        </pc:spChg>
        <pc:spChg chg="mod">
          <ac:chgData name="Saad Ehsan" userId="c4da1326b8d2b23e" providerId="LiveId" clId="{21AC538E-F73C-42F4-8719-E7A093CACB8F}" dt="2025-09-02T16:08:24.883" v="27"/>
          <ac:spMkLst>
            <pc:docMk/>
            <pc:sldMk cId="0" sldId="267"/>
            <ac:spMk id="3" creationId="{00000000-0000-0000-0000-000000000000}"/>
          </ac:spMkLst>
        </pc:spChg>
      </pc:sldChg>
      <pc:sldChg chg="modSp">
        <pc:chgData name="Saad Ehsan" userId="c4da1326b8d2b23e" providerId="LiveId" clId="{21AC538E-F73C-42F4-8719-E7A093CACB8F}" dt="2025-09-02T16:08:24.883" v="27"/>
        <pc:sldMkLst>
          <pc:docMk/>
          <pc:sldMk cId="0" sldId="268"/>
        </pc:sldMkLst>
        <pc:spChg chg="mod">
          <ac:chgData name="Saad Ehsan" userId="c4da1326b8d2b23e" providerId="LiveId" clId="{21AC538E-F73C-42F4-8719-E7A093CACB8F}" dt="2025-09-02T16:08:24.883" v="27"/>
          <ac:spMkLst>
            <pc:docMk/>
            <pc:sldMk cId="0" sldId="268"/>
            <ac:spMk id="2" creationId="{00000000-0000-0000-0000-000000000000}"/>
          </ac:spMkLst>
        </pc:spChg>
        <pc:spChg chg="mod">
          <ac:chgData name="Saad Ehsan" userId="c4da1326b8d2b23e" providerId="LiveId" clId="{21AC538E-F73C-42F4-8719-E7A093CACB8F}" dt="2025-09-02T16:08:24.883" v="27"/>
          <ac:spMkLst>
            <pc:docMk/>
            <pc:sldMk cId="0" sldId="26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81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question and why it matters. Briefly describe the city's safety goals and what you set out to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the research question concise and measurable. State exactly what metrics and years you analyze.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Cite the portals and provide links in an appendix slide if this will be shared.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you kept original data intact and added helper columns for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Clarify that presence and install-year can differ; you report and reconcile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your Python plot with labels on points. Make sure x-ticks show 2017–2022 and y-axis has thousand separators.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your detections table is wide, sum columns per year; if long, groupby YEAR and sum TOTAL_VIOLATIONS.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matching by coords, round consistently. Consider also showing 2019–2020 averages as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Replace placeholders with your actual numbers. Keep bullets short and specific.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Own the tradeoffs honestly. Reviewers appreciate clarity about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You can add one short graphic explaining DiD or ITS if time permits.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for both collisions (row-per-event) and detections (row-per-detection).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mirrors the logic you used and can be reused for any year 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528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52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05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497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558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83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972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172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96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630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45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8325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480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47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61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3860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954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794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Before the Flash: Collision Patterns Before and After Enforcement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– September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Did automated red-light enforcement improve safety at targeted intersections?</a:t>
            </a:r>
          </a:p>
          <a:p>
            <a:r>
              <a:t>Quantify yearly trends in collisions and violations (2017–2022).</a:t>
            </a:r>
          </a:p>
          <a:p>
            <a:r>
              <a:t>Establish a clean 'new site in year Y' list to use as the treated group.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Ottawa: Police-reported collisions (2017–2022).</a:t>
            </a:r>
          </a:p>
          <a:p>
            <a:r>
              <a:t>City red-light camera violations by site and year (2017–2022).</a:t>
            </a:r>
          </a:p>
          <a:p>
            <a:r>
              <a:t>Optional: Traffic volumes (AADT) for exposure adjustment (if available).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t>Normalize Intersection names: trimmed, uppercased, single spaces.</a:t>
            </a:r>
          </a:p>
          <a:p>
            <a:r>
              <a:t>Round coordinates (Latitude/Longitude) for stable joins.</a:t>
            </a:r>
          </a:p>
          <a:p>
            <a:r>
              <a:t>Create helper year columns (e.g., Collision_Year, Detection_Year).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t>Drop duplicates by Intersection before set comparisons.</a:t>
            </a:r>
          </a:p>
          <a:p>
            <a:r>
              <a:t>Ensure numeric types for totals (coerce errors to NaN → 0).</a:t>
            </a:r>
          </a:p>
          <a:p>
            <a:r>
              <a:t>Keep raw Date column intact; add derived Year separately.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6"/>
            <a:ext cx="4641143" cy="162232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Identifying New Camera 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697" y="2438400"/>
            <a:ext cx="4641142" cy="378541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Presence-based: sites in Year Y not seen in Year Y-1.</a:t>
            </a:r>
          </a:p>
          <a:p>
            <a:r>
              <a:rPr lang="en-US">
                <a:solidFill>
                  <a:srgbClr val="FFFFFF"/>
                </a:solidFill>
              </a:rPr>
              <a:t>Install-year cross-check: CAMERA_INSTALL_YEAR == Y (may not be identical).</a:t>
            </a:r>
          </a:p>
          <a:p>
            <a:r>
              <a:rPr lang="en-US">
                <a:solidFill>
                  <a:srgbClr val="FFFFFF"/>
                </a:solidFill>
              </a:rPr>
              <a:t>Example 2021: presence-based found 6; install-year found 7 (CARLING @ ISLAND PARK mismatch).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61980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6F681C-E744-2F44-A8EF-172E6DDE3B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091" r="50377"/>
          <a:stretch>
            <a:fillRect/>
          </a:stretch>
        </p:blipFill>
        <p:spPr>
          <a:xfrm>
            <a:off x="5421881" y="1"/>
            <a:ext cx="3722434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Collisions per Year (2017–2022)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73152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Paste chart image here (years on X, counts on Y).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Red‑Light Violations per Year (2017–2022)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73152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Paste chart image here (years on X, total violations on 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Collisions at New 2021 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Filter collisions to 2021 and to intersections in the 2021 new-site list.</a:t>
            </a:r>
          </a:p>
          <a:p>
            <a:r>
              <a:t>Count totals (and by severity if available).</a:t>
            </a:r>
          </a:p>
          <a:p>
            <a:r>
              <a:t>Use as pre‑camera baseline for treated sites.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(Examples)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camera additions by year (e.g., 2021: 6 by presence, 7 by install-year).</a:t>
            </a:r>
          </a:p>
          <a:p>
            <a:r>
              <a:t>Overall trends in collisions and violations (2017–2022).</a:t>
            </a:r>
          </a:p>
          <a:p>
            <a:r>
              <a:t>Pre‑camera baseline at treated sites to compare against post years.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Correlation ≠ causation; trends alone don’t prove impact.</a:t>
            </a:r>
          </a:p>
          <a:p>
            <a:r>
              <a:t>Exposure (traffic volume) not fully controlled.</a:t>
            </a:r>
          </a:p>
          <a:p>
            <a:r>
              <a:t>Potential join errors with rounded coordinates in dense corridors.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matched control sites and run a simple Difference‑in‑Differences.</a:t>
            </a:r>
          </a:p>
          <a:p>
            <a:r>
              <a:t>Consider Poisson/NegBin models with exposure offsets if volumes are available.</a:t>
            </a:r>
          </a:p>
          <a:p>
            <a:r>
              <a:t>Monthly Interrupted Time Series at site level with install breakpoints.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– Yearly Count Pattern (int Date)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>
                <a:latin typeface="Consolas"/>
              </a:defRPr>
            </a:pPr>
            <a:r>
              <a:t>years = df['Date'] // 10000  # YYYYMMDD → YYYY</a:t>
            </a:r>
            <a:br/>
            <a:r>
              <a:t>yearly = years.value_counts().sort_index().reset_index()</a:t>
            </a:r>
            <a:br/>
            <a:r>
              <a:t>yearly.columns = ['year', 'count']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– New Sites in Year Y (Presence‑based)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>
                <a:latin typeface="Consolas"/>
              </a:defRPr>
            </a:pPr>
            <a:r>
              <a:t>curr = Detections_Y.copy(); prev = Detections_Ym1.copy()</a:t>
            </a:r>
            <a:br/>
            <a:r>
              <a:t>curr['Intersection'] = curr['Intersection'].str.strip().str.upper()</a:t>
            </a:r>
            <a:br/>
            <a:r>
              <a:t>prev['Intersection'] = prev['Intersection'].str.strip().str.upper()</a:t>
            </a:r>
            <a:br/>
            <a:r>
              <a:t>new_names = set(curr['Intersection']) - set(prev['Intersection'])</a:t>
            </a:r>
            <a:br/>
            <a:r>
              <a:t>new_sites = curr[curr['Intersection'].isin(new_names)]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4</TotalTime>
  <Words>768</Words>
  <Application>Microsoft Office PowerPoint</Application>
  <PresentationFormat>On-screen Show (4:3)</PresentationFormat>
  <Paragraphs>58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Century Gothic</vt:lpstr>
      <vt:lpstr>Wingdings 3</vt:lpstr>
      <vt:lpstr>Ion</vt:lpstr>
      <vt:lpstr>Before the Flash: Collision Patterns Before and After Enforcement</vt:lpstr>
      <vt:lpstr>Research Question &amp; Objectives</vt:lpstr>
      <vt:lpstr>Data Sources</vt:lpstr>
      <vt:lpstr>Data Cleaning &amp; Normalization</vt:lpstr>
      <vt:lpstr>Identifying New Camera Sites</vt:lpstr>
      <vt:lpstr>Collisions per Year (2017–2022)</vt:lpstr>
      <vt:lpstr>Red‑Light Violations per Year (2017–2022)</vt:lpstr>
      <vt:lpstr>Baseline Collisions at New 2021 Sites</vt:lpstr>
      <vt:lpstr>Key Findings (Examples)</vt:lpstr>
      <vt:lpstr>Limitations</vt:lpstr>
      <vt:lpstr>Next Steps &amp; Improvements</vt:lpstr>
      <vt:lpstr>Appendix – Yearly Count Pattern (int Date)</vt:lpstr>
      <vt:lpstr>Appendix – New Sites in Year Y (Presence‑based)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Saad Ehsan</cp:lastModifiedBy>
  <cp:revision>1</cp:revision>
  <dcterms:created xsi:type="dcterms:W3CDTF">2013-01-27T09:14:16Z</dcterms:created>
  <dcterms:modified xsi:type="dcterms:W3CDTF">2025-09-02T16:08:28Z</dcterms:modified>
  <cp:category/>
</cp:coreProperties>
</file>