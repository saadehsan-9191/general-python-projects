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63" r:id="rId2"/>
    <p:sldId id="261" r:id="rId3"/>
    <p:sldId id="262" r:id="rId4"/>
    <p:sldId id="259" r:id="rId5"/>
    <p:sldId id="275" r:id="rId6"/>
    <p:sldId id="264" r:id="rId7"/>
    <p:sldId id="274" r:id="rId8"/>
    <p:sldId id="260" r:id="rId9"/>
    <p:sldId id="270" r:id="rId10"/>
    <p:sldId id="284" r:id="rId11"/>
    <p:sldId id="266" r:id="rId12"/>
    <p:sldId id="272" r:id="rId13"/>
    <p:sldId id="273" r:id="rId14"/>
    <p:sldId id="285" r:id="rId15"/>
    <p:sldId id="265" r:id="rId16"/>
    <p:sldId id="267" r:id="rId17"/>
    <p:sldId id="268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74576" autoAdjust="0"/>
  </p:normalViewPr>
  <p:slideViewPr>
    <p:cSldViewPr snapToGrid="0">
      <p:cViewPr varScale="1">
        <p:scale>
          <a:sx n="82" d="100"/>
          <a:sy n="82" d="100"/>
        </p:scale>
        <p:origin x="17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48"/>
    </p:cViewPr>
  </p:sorterViewPr>
  <p:notesViewPr>
    <p:cSldViewPr snapToGrid="0">
      <p:cViewPr varScale="1">
        <p:scale>
          <a:sx n="83" d="100"/>
          <a:sy n="83" d="100"/>
        </p:scale>
        <p:origin x="38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 Ehsan" userId="c4da1326b8d2b23e" providerId="LiveId" clId="{D2CF2CEB-2B03-4DA5-9D8E-F4AEA7E11C49}"/>
    <pc:docChg chg="modSld">
      <pc:chgData name="Saad Ehsan" userId="c4da1326b8d2b23e" providerId="LiveId" clId="{D2CF2CEB-2B03-4DA5-9D8E-F4AEA7E11C49}" dt="2025-12-23T15:17:00.933" v="3" actId="20577"/>
      <pc:docMkLst>
        <pc:docMk/>
      </pc:docMkLst>
      <pc:sldChg chg="modSp mod">
        <pc:chgData name="Saad Ehsan" userId="c4da1326b8d2b23e" providerId="LiveId" clId="{D2CF2CEB-2B03-4DA5-9D8E-F4AEA7E11C49}" dt="2025-12-23T15:17:00.933" v="3" actId="20577"/>
        <pc:sldMkLst>
          <pc:docMk/>
          <pc:sldMk cId="0" sldId="263"/>
        </pc:sldMkLst>
        <pc:spChg chg="mod">
          <ac:chgData name="Saad Ehsan" userId="c4da1326b8d2b23e" providerId="LiveId" clId="{D2CF2CEB-2B03-4DA5-9D8E-F4AEA7E11C49}" dt="2025-12-23T15:17:00.933" v="3" actId="20577"/>
          <ac:spMkLst>
            <pc:docMk/>
            <pc:sldMk cId="0" sldId="263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2BCAFC7A-71DD-4C2C-B63D-60FDC7DD544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DA6FC261-E491-4C42-A663-B95247CC4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1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85ECAFD-F005-4163-B10D-85806DC43F9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33E963C-1534-4F8D-B2A7-66D81AA25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5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57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84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94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50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94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27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0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63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0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11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1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94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05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7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86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19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2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492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9E14A-9D9F-75DE-FBBC-43E4FBD21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3E1FE-87DE-6D98-94D4-1AE2D2C6B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29133-F500-8808-8CE7-662FF2071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5FE74-E1FC-AA60-1567-E2AE3CE23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47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A775-6A9D-A3F8-7881-03CA6F61E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F374D-E3C2-CE55-5281-807253AA4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9F290-A249-4667-4A88-F719751F4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9959A-3559-301D-214F-0C7A46AA2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28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2F71-8362-1A5D-4A1F-144022DEC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881FC-5709-BD62-4798-808D2FF92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6533F-F414-60B4-83BB-7142DC016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b="1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1BF11-BF2A-0665-E2AD-FCA44A7B3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64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A130C-D86F-5B75-A97A-EE305357D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72DBF-8DDA-B08B-7B6C-8EA242914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B5180-AAC3-BF55-26EB-1AA12C869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02593-0FD9-7A2D-7CC5-13498DC84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439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8575-F81A-06D5-822E-41B91E28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37A32-4363-A446-A20C-0DA201C0D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83B57-BCE7-4BF8-0F44-73B91C083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85D96-0ABD-2215-1FE8-EC636261F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476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75653-C29B-0EC3-4597-7EEC3A815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73109-DDD3-CBF9-7F3D-B194505EC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23E82-F8E6-AB60-121E-C846353D2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B3307-2064-DE04-5EA7-0D5B6C14A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70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8346-C1A4-9BC8-B104-0F2D0B4C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98BF7-9956-C3A4-2C88-1BBC45389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E5A02-AB99-2312-1220-F626B124B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928AF-306B-C9C3-91AC-4C1C1B94B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3E963C-1534-4F8D-B2A7-66D81AA2595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400" cap="small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276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0" i="0" kern="12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en-US" sz="3600" b="0" i="0" kern="1200" cap="none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 descr="An empty placeholder to add an image. Click on the placeholder and select the image that you wish to add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 descr="An empty placeholder to add an image. Click on the placeholder and select the image that you wish to add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430213"/>
            <a:ext cx="7423149" cy="5826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/>
          <p:cNvSpPr/>
          <p:nvPr userDrawn="1"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14" name="Rectangle 13"/>
          <p:cNvSpPr/>
          <p:nvPr userDrawn="1"/>
        </p:nvSpPr>
        <p:spPr bwMode="blackWhite"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3" r:id="rId14"/>
    <p:sldLayoutId id="2147483665" r:id="rId15"/>
    <p:sldLayoutId id="2147483669" r:id="rId16"/>
    <p:sldLayoutId id="2147483670" r:id="rId17"/>
    <p:sldLayoutId id="2147483658" r:id="rId18"/>
    <p:sldLayoutId id="2147483659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Saad%20Ehsan\Cleaned_Data\immigrants_admissions_category.xlsx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hyperlink" Target="https://d.docs.live.net/C4DA1326B8D2B23E/CIMT/Capstone/Ontario%20Long%20term%20Report%20-%20Ministry%20of%20Finance%20-%202024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hyperlink" Target="file:///C:\Users\Saad%20Ehsan\Cleaned_Data\total_income_residents.xlsx" TargetMode="External"/><Relationship Id="rId4" Type="http://schemas.openxmlformats.org/officeDocument/2006/relationships/hyperlink" Target="file:///C:\Users\Saad%20Ehsan\Cleaned_Data\immigrants_income_amounts_with_tax.xlsx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Saad%20Ehsan\Cleaned_Data\total_government_spending.xlsx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tmp"/><Relationship Id="rId4" Type="http://schemas.openxmlformats.org/officeDocument/2006/relationships/hyperlink" Target="https://fao-on.org/en/report/fa2207schoolboard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.docs.live.net/C4DA1326B8D2B23E/CIMT/Capstone/Ontario%20Long%20term%20Report%20-%20Ministry%20of%20Finance%20-%202024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794" y="1185964"/>
            <a:ext cx="9404723" cy="1400530"/>
          </a:xfrm>
        </p:spPr>
        <p:txBody>
          <a:bodyPr/>
          <a:lstStyle/>
          <a:p>
            <a:pPr algn="ctr"/>
            <a:r>
              <a:rPr lang="en-US"/>
              <a:t>The Effect of Immigration on Public Expenditure &amp; Revenue in Ontario: A Data-Driven Analysis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47859" y="4145160"/>
            <a:ext cx="2209231" cy="15268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By Saad Ehsan </a:t>
            </a:r>
          </a:p>
          <a:p>
            <a:pPr marL="0" indent="0">
              <a:buNone/>
            </a:pPr>
            <a:r>
              <a:rPr lang="en-US" dirty="0"/>
              <a:t>May 30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37ED54D-2D03-0DF4-C9FD-E76EB667E95F}"/>
              </a:ext>
            </a:extLst>
          </p:cNvPr>
          <p:cNvSpPr txBox="1">
            <a:spLocks/>
          </p:cNvSpPr>
          <p:nvPr/>
        </p:nvSpPr>
        <p:spPr>
          <a:xfrm>
            <a:off x="8195286" y="4145160"/>
            <a:ext cx="2209231" cy="1526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/>
              <a:t>For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Immigration and Refugee 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7A8D5-1AF1-EDAA-60CF-E81B68D29FE3}"/>
              </a:ext>
            </a:extLst>
          </p:cNvPr>
          <p:cNvSpPr txBox="1"/>
          <p:nvPr/>
        </p:nvSpPr>
        <p:spPr>
          <a:xfrm>
            <a:off x="2145323" y="5871329"/>
            <a:ext cx="790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Do you think immigration is a financial gain or strain on public funds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Immigration is crucial for Ontario’s economy, influencing revenue &amp; public spending.</a:t>
            </a:r>
          </a:p>
          <a:p>
            <a:endParaRPr lang="en-US" dirty="0"/>
          </a:p>
          <a:p>
            <a:r>
              <a:rPr lang="en-US" dirty="0"/>
              <a:t>Immigrants contribute significantly through taxes while also relying on public services.</a:t>
            </a:r>
          </a:p>
          <a:p>
            <a:endParaRPr lang="en-US" dirty="0"/>
          </a:p>
          <a:p>
            <a:r>
              <a:rPr lang="en-US" dirty="0"/>
              <a:t>This study quantifies whether immigrant tax revenue offsets government expenditures.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101A6C-589E-558B-42FF-80D254C8E84E}"/>
              </a:ext>
            </a:extLst>
          </p:cNvPr>
          <p:cNvSpPr txBox="1"/>
          <p:nvPr/>
        </p:nvSpPr>
        <p:spPr>
          <a:xfrm>
            <a:off x="1330569" y="5758951"/>
            <a:ext cx="9530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FF00"/>
                </a:solidFill>
              </a:rPr>
              <a:t>If immigration accounts for a significant portion of Ontario’s tax base, should policy makers invest more in immigrant integration programs?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Objectives &amp; Hypothesis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Objective: Quantify the net fiscal impact of immigration.</a:t>
            </a:r>
          </a:p>
          <a:p>
            <a:endParaRPr lang="en-US" dirty="0"/>
          </a:p>
          <a:p>
            <a:r>
              <a:rPr lang="en-US" dirty="0"/>
              <a:t>Hypothesis: Immigration contributes positively to Ontario’s fiscal balance.</a:t>
            </a:r>
          </a:p>
          <a:p>
            <a:endParaRPr lang="en-US" dirty="0"/>
          </a:p>
          <a:p>
            <a:r>
              <a:rPr lang="en-US" dirty="0"/>
              <a:t>Goal: Provide evidence-based insights for policy recommendations.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8E56E-DCEC-D3A4-77A4-1357B9C7B819}"/>
              </a:ext>
            </a:extLst>
          </p:cNvPr>
          <p:cNvSpPr txBox="1"/>
          <p:nvPr/>
        </p:nvSpPr>
        <p:spPr>
          <a:xfrm>
            <a:off x="1625905" y="5879067"/>
            <a:ext cx="790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FF00"/>
                </a:solidFill>
              </a:rPr>
              <a:t>A ‘successful immigration policy’ essentially means More skilled labor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Methodology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Timeframe: 2014–2022 (9-year analysis).</a:t>
            </a:r>
          </a:p>
          <a:p>
            <a:endParaRPr lang="en-US" dirty="0"/>
          </a:p>
          <a:p>
            <a:r>
              <a:rPr lang="en-US" dirty="0"/>
              <a:t>Data Sources: Statistics Canada, Provincial Fiscal Reports, Open Data Portal.</a:t>
            </a:r>
          </a:p>
          <a:p>
            <a:endParaRPr lang="en-US" dirty="0"/>
          </a:p>
          <a:p>
            <a:r>
              <a:rPr lang="en-US" dirty="0"/>
              <a:t>Tools Used: Power BI, Excel, Python (Regression Analysis , Correlation Analysis).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F3C80-0F2A-3E6F-443C-E4DC92204D8F}"/>
              </a:ext>
            </a:extLst>
          </p:cNvPr>
          <p:cNvSpPr txBox="1"/>
          <p:nvPr/>
        </p:nvSpPr>
        <p:spPr>
          <a:xfrm>
            <a:off x="2142147" y="5879067"/>
            <a:ext cx="7901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FF00"/>
                </a:solidFill>
              </a:rPr>
              <a:t>How do you think data-driven models like regression analysis help shape policy decisions?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2176-BE96-CF64-2C87-507AEE72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312041"/>
            <a:ext cx="9404723" cy="1400530"/>
          </a:xfrm>
        </p:spPr>
        <p:txBody>
          <a:bodyPr/>
          <a:lstStyle/>
          <a:p>
            <a:pPr algn="ctr"/>
            <a:r>
              <a:rPr lang="en-US" sz="2800" dirty="0"/>
              <a:t>Distribution of Canadas immigrant population in provinces and territories, Census year 2021</a:t>
            </a:r>
          </a:p>
        </p:txBody>
      </p:sp>
      <p:pic>
        <p:nvPicPr>
          <p:cNvPr id="5" name="Picture 4" descr="A graph of different colored lines">
            <a:extLst>
              <a:ext uri="{FF2B5EF4-FFF2-40B4-BE49-F238E27FC236}">
                <a16:creationId xmlns:a16="http://schemas.microsoft.com/office/drawing/2014/main" id="{4278DBC7-2EF4-0C60-E52E-82C0B97469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-1" y="1475624"/>
            <a:ext cx="12192000" cy="53823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DDD2CF-CC9D-A91D-0507-067505C964F9}"/>
              </a:ext>
            </a:extLst>
          </p:cNvPr>
          <p:cNvSpPr txBox="1"/>
          <p:nvPr/>
        </p:nvSpPr>
        <p:spPr>
          <a:xfrm>
            <a:off x="7432431" y="2368062"/>
            <a:ext cx="4185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Total Population      : 40.1 M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Ontario Population : 15.6 M  (38.9%)</a:t>
            </a:r>
          </a:p>
        </p:txBody>
      </p:sp>
    </p:spTree>
    <p:extLst>
      <p:ext uri="{BB962C8B-B14F-4D97-AF65-F5344CB8AC3E}">
        <p14:creationId xmlns:p14="http://schemas.microsoft.com/office/powerpoint/2010/main" val="396845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Immigration Trends in Ontario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15614" y="1443712"/>
            <a:ext cx="5289444" cy="433198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hlinkClick r:id="rId3" action="ppaction://hlinkfile"/>
              </a:rPr>
              <a:t>27.18%</a:t>
            </a:r>
            <a:r>
              <a:rPr lang="en-US" b="1" dirty="0"/>
              <a:t> </a:t>
            </a:r>
            <a:r>
              <a:rPr lang="en-US" dirty="0"/>
              <a:t>increase in average immigration (2014–2022).</a:t>
            </a:r>
          </a:p>
          <a:p>
            <a:r>
              <a:rPr lang="en-US" dirty="0"/>
              <a:t>Economic Immigrants vs. Refugees vs. Family Sponsorship vs. Dependent breakdown.</a:t>
            </a:r>
          </a:p>
          <a:p>
            <a:r>
              <a:rPr lang="en-US" dirty="0"/>
              <a:t>Immigration directly correlates with labor market expansion.</a:t>
            </a:r>
          </a:p>
          <a:p>
            <a:r>
              <a:rPr lang="en-US" dirty="0"/>
              <a:t>Population Growth Contribution: Immigration accounts for </a:t>
            </a:r>
            <a:r>
              <a:rPr lang="en-US" dirty="0">
                <a:hlinkClick r:id="rId4"/>
              </a:rPr>
              <a:t>72%</a:t>
            </a:r>
            <a:r>
              <a:rPr lang="en-US" dirty="0"/>
              <a:t> of Ontario’s total population growth, reinforcing economic demand and workforce supply.</a:t>
            </a:r>
          </a:p>
          <a:p>
            <a:r>
              <a:rPr lang="en-US" dirty="0"/>
              <a:t>Urban vs. Rural Settlement Patterns: Immigrants primarily settle in Toronto and then Ottawa, but smaller cities like Hamilton, Cornwall and London have seen growing immigrant populations, affecting regional economic dynamics.</a:t>
            </a:r>
          </a:p>
          <a:p>
            <a:endParaRPr lang="en-US" dirty="0"/>
          </a:p>
        </p:txBody>
      </p:sp>
      <p:pic>
        <p:nvPicPr>
          <p:cNvPr id="12" name="Picture 11" descr="A graph of numbers and text&#10;&#10;AI-generated content may be incorrect.">
            <a:extLst>
              <a:ext uri="{FF2B5EF4-FFF2-40B4-BE49-F238E27FC236}">
                <a16:creationId xmlns:a16="http://schemas.microsoft.com/office/drawing/2014/main" id="{D5CBA2BC-560F-6097-66DB-555C0D0B628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499651" y="1200973"/>
            <a:ext cx="6576735" cy="4817459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B250D9-9523-DEBA-0158-4DBA0EA4241D}"/>
              </a:ext>
            </a:extLst>
          </p:cNvPr>
          <p:cNvSpPr txBox="1"/>
          <p:nvPr/>
        </p:nvSpPr>
        <p:spPr>
          <a:xfrm>
            <a:off x="1084384" y="6220616"/>
            <a:ext cx="10023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FF00"/>
                </a:solidFill>
              </a:rPr>
              <a:t>What do you think drives immigrants toward major cities instead of smaller towns?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2B1E-0510-6939-1016-3B7C28EB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94" y="0"/>
            <a:ext cx="9404723" cy="1400530"/>
          </a:xfrm>
        </p:spPr>
        <p:txBody>
          <a:bodyPr/>
          <a:lstStyle/>
          <a:p>
            <a:pPr algn="ctr"/>
            <a:r>
              <a:rPr lang="en-US" dirty="0"/>
              <a:t>Natural increase and Net migration in Ontario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17DF1-D805-D69A-7877-B6BE97A2BFF0}"/>
              </a:ext>
            </a:extLst>
          </p:cNvPr>
          <p:cNvSpPr txBox="1"/>
          <p:nvPr/>
        </p:nvSpPr>
        <p:spPr>
          <a:xfrm>
            <a:off x="1102694" y="5929217"/>
            <a:ext cx="1086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Statistics Canada for 1971 – 2023, and Ontario Ministry of Finance and projections</a:t>
            </a:r>
          </a:p>
        </p:txBody>
      </p:sp>
      <p:pic>
        <p:nvPicPr>
          <p:cNvPr id="4" name="Picture 3" descr="A graph of growth and migration&#10;&#10;AI-generated content may be incorrect.">
            <a:extLst>
              <a:ext uri="{FF2B5EF4-FFF2-40B4-BE49-F238E27FC236}">
                <a16:creationId xmlns:a16="http://schemas.microsoft.com/office/drawing/2014/main" id="{3DCA8233-E700-1F0D-2E59-F18778DB9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029" y="1400530"/>
            <a:ext cx="7155939" cy="45286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BC828F-21FC-C14D-2098-F7FA07134DF9}"/>
              </a:ext>
            </a:extLst>
          </p:cNvPr>
          <p:cNvSpPr txBox="1"/>
          <p:nvPr/>
        </p:nvSpPr>
        <p:spPr>
          <a:xfrm>
            <a:off x="1509546" y="6298549"/>
            <a:ext cx="9172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What economic challenges might Ontario face if immigration rates decline?</a:t>
            </a:r>
          </a:p>
        </p:txBody>
      </p:sp>
    </p:spTree>
    <p:extLst>
      <p:ext uri="{BB962C8B-B14F-4D97-AF65-F5344CB8AC3E}">
        <p14:creationId xmlns:p14="http://schemas.microsoft.com/office/powerpoint/2010/main" val="253038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131" y="452718"/>
            <a:ext cx="9404723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Tax Revenue Growth Analysis</a:t>
            </a:r>
          </a:p>
        </p:txBody>
      </p:sp>
      <p:pic>
        <p:nvPicPr>
          <p:cNvPr id="6" name="Picture 5" descr="A blue and white graph&#10;&#10;AI-generated content may be incorrect.">
            <a:extLst>
              <a:ext uri="{FF2B5EF4-FFF2-40B4-BE49-F238E27FC236}">
                <a16:creationId xmlns:a16="http://schemas.microsoft.com/office/drawing/2014/main" id="{99DD59CF-AA8B-6866-C5A9-FB0E74D56E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1464" y="1520645"/>
            <a:ext cx="6316718" cy="4737538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570106" y="1742258"/>
            <a:ext cx="5328817" cy="429431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Immigrant tax revenue has a moving average of </a:t>
            </a:r>
            <a:r>
              <a:rPr lang="en-US" dirty="0">
                <a:hlinkClick r:id="rId4" action="ppaction://hlinkfile"/>
              </a:rPr>
              <a:t>38.72%</a:t>
            </a:r>
            <a:r>
              <a:rPr lang="en-US" dirty="0"/>
              <a:t>.</a:t>
            </a:r>
          </a:p>
          <a:p>
            <a:r>
              <a:rPr lang="en-US" dirty="0"/>
              <a:t>Immigrants contribute </a:t>
            </a:r>
            <a:r>
              <a:rPr lang="en-US" dirty="0">
                <a:hlinkClick r:id="rId5" action="ppaction://hlinkfile"/>
              </a:rPr>
              <a:t>$78.88 </a:t>
            </a:r>
            <a:r>
              <a:rPr lang="en-US" dirty="0"/>
              <a:t>billion vs. non-immigrants </a:t>
            </a:r>
            <a:r>
              <a:rPr lang="en-US" dirty="0">
                <a:hlinkClick r:id="rId5" action="ppaction://hlinkfile"/>
              </a:rPr>
              <a:t>$124.84 </a:t>
            </a:r>
            <a:r>
              <a:rPr lang="en-US" dirty="0"/>
              <a:t>billion (9 years period, Total tax calculated $203.7 Billion).</a:t>
            </a:r>
          </a:p>
          <a:p>
            <a:r>
              <a:rPr lang="en-US" dirty="0"/>
              <a:t>Income Distribution Among Immigrants: Economic immigrants tend to earn 13% higher median incomes, contributing more taxable income than family-sponsored newcomers.</a:t>
            </a:r>
          </a:p>
          <a:p>
            <a:r>
              <a:rPr lang="en-US" dirty="0"/>
              <a:t>Fiscal Return on Immigration Investment: the total increase in government funding is $48.6 Billion. In comparison, the increase in tax revenue collected by immigrants is $78.88 Billion.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824958-777E-B265-99D4-9EBC8548AF87}"/>
              </a:ext>
            </a:extLst>
          </p:cNvPr>
          <p:cNvSpPr txBox="1"/>
          <p:nvPr/>
        </p:nvSpPr>
        <p:spPr>
          <a:xfrm>
            <a:off x="1641230" y="6405282"/>
            <a:ext cx="890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What types of jobs do you think contribute the most to Ontario’s tax revenue?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30091" y="288595"/>
            <a:ext cx="10139120" cy="1400530"/>
          </a:xfrm>
        </p:spPr>
        <p:txBody>
          <a:bodyPr anchor="t">
            <a:normAutofit/>
          </a:bodyPr>
          <a:lstStyle/>
          <a:p>
            <a:r>
              <a:rPr lang="en-US" dirty="0"/>
              <a:t>Government Expenditures Breakdown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AAD75-EF99-4035-7EDD-800475D80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6756" y="1556481"/>
            <a:ext cx="4963623" cy="41957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Annual Expenditure Growth: </a:t>
            </a:r>
            <a:r>
              <a:rPr lang="en-US" dirty="0">
                <a:hlinkClick r:id="rId3" action="ppaction://hlinkfile"/>
              </a:rPr>
              <a:t>3.98%</a:t>
            </a:r>
            <a:r>
              <a:rPr lang="en-US" dirty="0"/>
              <a:t>.</a:t>
            </a:r>
          </a:p>
          <a:p>
            <a:r>
              <a:rPr lang="en-US" dirty="0"/>
              <a:t>Spending fluctuates alongside immigration rates, revealing funding adjustments.</a:t>
            </a:r>
          </a:p>
          <a:p>
            <a:r>
              <a:rPr lang="en-US" dirty="0"/>
              <a:t>Healthcare Spending: Immigrant families have higher healthcare utilization in early years, but long-term costs stabilize.</a:t>
            </a:r>
          </a:p>
          <a:p>
            <a:r>
              <a:rPr lang="en-US" dirty="0"/>
              <a:t>Education Investments: Government spends on average </a:t>
            </a:r>
            <a:r>
              <a:rPr lang="en-US" dirty="0">
                <a:hlinkClick r:id="rId4"/>
              </a:rPr>
              <a:t>$14,501</a:t>
            </a:r>
            <a:r>
              <a:rPr lang="en-US" dirty="0"/>
              <a:t>per immigrant student annually in Ontario schools, contributing to skill development.</a:t>
            </a:r>
          </a:p>
          <a:p>
            <a:r>
              <a:rPr lang="en-US" dirty="0"/>
              <a:t>Social Assistance Allocation: Immigrant reliance on Ontario Works &amp; ODSP is generally decreasing, showing increasing financial independence.</a:t>
            </a:r>
          </a:p>
          <a:p>
            <a:endParaRPr lang="en-US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AE0054D-3530-A3F2-775F-BC01879F98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044" y="1305575"/>
            <a:ext cx="6376760" cy="469757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17C0EF-A17E-E139-BF57-F6C880319AC3}"/>
              </a:ext>
            </a:extLst>
          </p:cNvPr>
          <p:cNvSpPr txBox="1"/>
          <p:nvPr/>
        </p:nvSpPr>
        <p:spPr>
          <a:xfrm>
            <a:off x="807061" y="6200073"/>
            <a:ext cx="10577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Which public service do you think sees the greatest economic impact from immigration?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84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EBFAA5-2624-C54F-8DB4-068F67F5C2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55" y="860745"/>
            <a:ext cx="4783014" cy="3638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138731-3984-8F4F-0880-E7CAEA6F877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56" y="4656437"/>
            <a:ext cx="2327254" cy="18450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4AB602-AB55-557A-395E-0F1E4E359B5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5617" y="4656436"/>
            <a:ext cx="2393552" cy="18450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255DEB-780F-497E-0CDC-BD7E1E03098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9458" y="860744"/>
            <a:ext cx="6582965" cy="5640722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8D0C161-77F0-248A-4F86-A4A9E3E14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360" y="160479"/>
            <a:ext cx="8146196" cy="542934"/>
          </a:xfrm>
        </p:spPr>
        <p:txBody>
          <a:bodyPr/>
          <a:lstStyle/>
          <a:p>
            <a:r>
              <a:rPr lang="en-US" sz="2800" dirty="0"/>
              <a:t>Spending VS Social Assistance VS Immigration</a:t>
            </a:r>
          </a:p>
        </p:txBody>
      </p:sp>
    </p:spTree>
    <p:extLst>
      <p:ext uri="{BB962C8B-B14F-4D97-AF65-F5344CB8AC3E}">
        <p14:creationId xmlns:p14="http://schemas.microsoft.com/office/powerpoint/2010/main" val="4266689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Immigration positively correlates with tax revenue expansion (strong statistical link).</a:t>
            </a:r>
          </a:p>
          <a:p>
            <a:r>
              <a:rPr lang="en-US" dirty="0"/>
              <a:t>Regression model confirms immigration’s long-term fiscal impact.</a:t>
            </a:r>
          </a:p>
          <a:p>
            <a:r>
              <a:rPr lang="en-US" dirty="0"/>
              <a:t>Employment Rate Factor: Immigrants in skilled professions contribute more in taxes than non-skilled laborers.</a:t>
            </a:r>
          </a:p>
          <a:p>
            <a:r>
              <a:rPr lang="en-US" dirty="0"/>
              <a:t>Regional Fiscal Differences: Immigrant-heavy urban centers generate </a:t>
            </a:r>
            <a:r>
              <a:rPr lang="en-US" dirty="0">
                <a:hlinkClick r:id="rId3"/>
              </a:rPr>
              <a:t>26%</a:t>
            </a:r>
            <a:r>
              <a:rPr lang="en-US" dirty="0"/>
              <a:t> more tax revenue per capita than smaller cities.</a:t>
            </a:r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9E19D-96F5-E375-05A2-AC3D5BDFF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309"/>
            <a:ext cx="8544910" cy="686631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3D8C37C-CAAB-855A-E45A-DB0185939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931" y="1166649"/>
            <a:ext cx="3626069" cy="1692166"/>
          </a:xfrm>
        </p:spPr>
        <p:txBody>
          <a:bodyPr/>
          <a:lstStyle/>
          <a:p>
            <a:pPr algn="ctr"/>
            <a:r>
              <a:rPr lang="en-US" dirty="0"/>
              <a:t>Correlation Analysis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00806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1764F-DA29-235A-3762-97B0AA8E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DCD6791-3CF8-5E01-E5D7-12330EE33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5821" y="2238704"/>
            <a:ext cx="3626069" cy="1692166"/>
          </a:xfrm>
        </p:spPr>
        <p:txBody>
          <a:bodyPr/>
          <a:lstStyle/>
          <a:p>
            <a:pPr algn="ctr"/>
            <a:r>
              <a:rPr lang="en-US" dirty="0"/>
              <a:t>Regression Analysis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AF57CF03-20C7-1F9C-1A58-A60D3736CE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-1"/>
            <a:ext cx="7526215" cy="68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1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4628-C22D-0AE5-F0CE-58FB52DB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440995"/>
            <a:ext cx="9404723" cy="825097"/>
          </a:xfrm>
        </p:spPr>
        <p:txBody>
          <a:bodyPr/>
          <a:lstStyle/>
          <a:p>
            <a:r>
              <a:rPr lang="en-US" dirty="0"/>
              <a:t>Immigration VS Revenue collected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C02A40-8203-BFEB-7228-021D78D90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14" y="1503467"/>
            <a:ext cx="10398370" cy="513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93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Fiscal Policy Recommendations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Enhance Workforce Integration Programs (Job Placement &amp; Training).</a:t>
            </a:r>
          </a:p>
          <a:p>
            <a:r>
              <a:rPr lang="en-US" dirty="0"/>
              <a:t>Optimize Social Assistance (Reduce fiscal inefficiencies &amp; spending misallocation).</a:t>
            </a:r>
          </a:p>
          <a:p>
            <a:r>
              <a:rPr lang="en-US" dirty="0"/>
              <a:t>Refine Taxation Policy (Better immigrant-focused tax incentives &amp; equal opportunities).</a:t>
            </a:r>
          </a:p>
          <a:p>
            <a:r>
              <a:rPr lang="en-US" dirty="0"/>
              <a:t>Expand Regional Immigration Initiatives: Encouraging settlement outside Toronto can balance fiscal strain and economic development in smaller cities.</a:t>
            </a:r>
          </a:p>
          <a:p>
            <a:r>
              <a:rPr lang="en-US" dirty="0"/>
              <a:t>Improve Data Transparency: More granular tax reporting on immigrants vs. non-immigrants can enhance future policy decisions.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979E9-4909-C374-CDD6-AC624D3421BA}"/>
              </a:ext>
            </a:extLst>
          </p:cNvPr>
          <p:cNvSpPr txBox="1"/>
          <p:nvPr/>
        </p:nvSpPr>
        <p:spPr>
          <a:xfrm>
            <a:off x="807060" y="6137351"/>
            <a:ext cx="1088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Which recommendation do you think would have the biggest impact on Ontario’s economy?”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Final Thoughts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Immigration supports Ontario’s financial stability.</a:t>
            </a:r>
          </a:p>
          <a:p>
            <a:r>
              <a:rPr lang="en-US" dirty="0"/>
              <a:t>Data proves immigrants contribute more in taxes than they cost in services.</a:t>
            </a:r>
          </a:p>
          <a:p>
            <a:r>
              <a:rPr lang="en-US" dirty="0"/>
              <a:t>Future research: Expand datasets for more accurate predictions.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4161F-0923-AE5A-7483-BFBAA1B038A9}"/>
              </a:ext>
            </a:extLst>
          </p:cNvPr>
          <p:cNvSpPr txBox="1"/>
          <p:nvPr/>
        </p:nvSpPr>
        <p:spPr>
          <a:xfrm>
            <a:off x="655576" y="5879067"/>
            <a:ext cx="10880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FF00"/>
                </a:solidFill>
              </a:rPr>
              <a:t>Do you believe immigration should be treated as an economic priority in Ontario’s fiscal planning?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70600" y="2384275"/>
            <a:ext cx="4850799" cy="2089450"/>
          </a:xfrm>
        </p:spPr>
        <p:txBody>
          <a:bodyPr/>
          <a:lstStyle/>
          <a:p>
            <a:pPr algn="ctr"/>
            <a:r>
              <a:rPr lang="en-US" dirty="0"/>
              <a:t>Q&amp;A Session</a:t>
            </a:r>
            <a:br>
              <a:rPr lang="en-US" dirty="0"/>
            </a:br>
            <a:r>
              <a:rPr lang="en-US" dirty="0"/>
              <a:t>&amp; </a:t>
            </a:r>
            <a:br>
              <a:rPr lang="en-US" dirty="0"/>
            </a:br>
            <a:r>
              <a:rPr lang="en-US" dirty="0"/>
              <a:t>Discussion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19C785-CA69-092A-66F2-89BBCEB5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081" y="2079475"/>
            <a:ext cx="9719838" cy="2699050"/>
          </a:xfrm>
        </p:spPr>
        <p:txBody>
          <a:bodyPr/>
          <a:lstStyle/>
          <a:p>
            <a:pPr algn="ctr"/>
            <a:r>
              <a:rPr lang="en-US" i="1" dirty="0"/>
              <a:t>Do you think immigration should be viewed primarily as an economic strategy rather than a social policy? </a:t>
            </a:r>
            <a:br>
              <a:rPr lang="en-US" i="1" dirty="0"/>
            </a:br>
            <a:br>
              <a:rPr lang="en-US" i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24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EE60E-F0C3-1FA6-9205-612131284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8D9E10-3039-5550-1AFA-E8E7CB95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079475"/>
            <a:ext cx="9404723" cy="2699050"/>
          </a:xfrm>
        </p:spPr>
        <p:txBody>
          <a:bodyPr/>
          <a:lstStyle/>
          <a:p>
            <a:r>
              <a:rPr lang="en-US" i="1" dirty="0"/>
              <a:t>Ontario’s economy depends on skilled immigrants—how can we better integrate them into the labor market while reducing fiscal strain?</a:t>
            </a:r>
            <a:br>
              <a:rPr lang="en-US" i="1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4533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ABE7-8007-9199-AFD6-4DA2AD78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E77F02-657C-F59B-CFAC-81E5C3E1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079475"/>
            <a:ext cx="9404723" cy="2699050"/>
          </a:xfrm>
        </p:spPr>
        <p:txBody>
          <a:bodyPr/>
          <a:lstStyle/>
          <a:p>
            <a:r>
              <a:rPr lang="en-US" i="1" dirty="0"/>
              <a:t>With immigration fueling population growth, how should Ontario adjust its healthcare and education budgets to ensure sustainability?</a:t>
            </a:r>
            <a:br>
              <a:rPr lang="en-US" i="1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63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A65D6-1FA9-BBFC-88CC-AF6FE367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003B2D-88BF-723D-1FE7-89183B8F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079475"/>
            <a:ext cx="9404723" cy="2699050"/>
          </a:xfrm>
        </p:spPr>
        <p:txBody>
          <a:bodyPr/>
          <a:lstStyle/>
          <a:p>
            <a:r>
              <a:rPr lang="en-US" i="1" dirty="0"/>
              <a:t>Based on the data presented, how do you think Ontario’s immigration policies should evolve in the next decade?</a:t>
            </a:r>
            <a:br>
              <a:rPr lang="en-US" i="1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9317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3C879-BDCE-EC90-E37F-1B6433B5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F7B1A5-0C32-3237-389C-70B5EC14F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079475"/>
            <a:ext cx="9404723" cy="2699050"/>
          </a:xfrm>
        </p:spPr>
        <p:txBody>
          <a:bodyPr/>
          <a:lstStyle/>
          <a:p>
            <a:r>
              <a:rPr lang="en-US" i="1" dirty="0"/>
              <a:t>If immigrants contribute billions in tax revenue, should Ontario offer more targeted tax incentives for newcomers? What impact might this have?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75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AA1E-CD45-28A7-68E3-2DC07B90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6BE6AF-35B5-958C-EF20-32DEA923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079475"/>
            <a:ext cx="9404723" cy="2699050"/>
          </a:xfrm>
        </p:spPr>
        <p:txBody>
          <a:bodyPr/>
          <a:lstStyle/>
          <a:p>
            <a:r>
              <a:rPr lang="en-US" i="1" dirty="0"/>
              <a:t>Would decentralizing immigration—encouraging newcomers to settle outside major cities—help balance regional economies? What challenges might arise?</a:t>
            </a:r>
            <a:br>
              <a:rPr lang="en-US" i="1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9806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721E7-D413-CADA-5686-BB29A1F3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2123E7-18BF-2FAB-22E8-B90BAFF1F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1491076"/>
            <a:ext cx="9404723" cy="3875848"/>
          </a:xfrm>
        </p:spPr>
        <p:txBody>
          <a:bodyPr/>
          <a:lstStyle/>
          <a:p>
            <a:r>
              <a:rPr lang="en-US" i="1" dirty="0"/>
              <a:t>What’s your perspective on social assistance programs for immigrants? Should eligibility criteria be adjusted to focus on long-term financial independence?</a:t>
            </a:r>
            <a:br>
              <a:rPr lang="en-US" i="1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300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1AA3-5275-D246-A6C7-CD18D09E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69F58F-1EF9-8DA6-DAE3-744EA903D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1491076"/>
            <a:ext cx="9404723" cy="3875848"/>
          </a:xfrm>
        </p:spPr>
        <p:txBody>
          <a:bodyPr/>
          <a:lstStyle/>
          <a:p>
            <a:r>
              <a:rPr lang="en-US" i="1" dirty="0"/>
              <a:t>Should the government invest more in immigration support programs—or would it be more beneficial to focus on economic self-sufficiency among newcomers?</a:t>
            </a:r>
            <a:br>
              <a:rPr lang="en-US" i="1" dirty="0"/>
            </a:br>
            <a:endParaRPr 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42358A-9B22-B23D-F663-AFC8790B4C19}"/>
              </a:ext>
            </a:extLst>
          </p:cNvPr>
          <p:cNvSpPr txBox="1"/>
          <p:nvPr/>
        </p:nvSpPr>
        <p:spPr>
          <a:xfrm>
            <a:off x="4636476" y="4982203"/>
            <a:ext cx="29190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FF00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509130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usiness Strategy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plan presentation (Ion green design, widescreen).potx" id="{866C028E-10C7-4672-8238-17D4366C073A}" vid="{2A820B7E-5093-43C8-ABD0-FF5B957D5E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2408</TotalTime>
  <Words>991</Words>
  <Application>Microsoft Office PowerPoint</Application>
  <PresentationFormat>Widescreen</PresentationFormat>
  <Paragraphs>112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Calibri</vt:lpstr>
      <vt:lpstr>Century Gothic</vt:lpstr>
      <vt:lpstr>Wingdings 3</vt:lpstr>
      <vt:lpstr>Business Strategy</vt:lpstr>
      <vt:lpstr>The Effect of Immigration on Public Expenditure &amp; Revenue in Ontario: A Data-Driven Analysis</vt:lpstr>
      <vt:lpstr>Executive Summary</vt:lpstr>
      <vt:lpstr>Research Objectives &amp; Hypothesis</vt:lpstr>
      <vt:lpstr>Scope &amp; Methodology</vt:lpstr>
      <vt:lpstr>Distribution of Canadas immigrant population in provinces and territories, Census year 2021</vt:lpstr>
      <vt:lpstr>Immigration Trends in Ontario</vt:lpstr>
      <vt:lpstr>Natural increase and Net migration in Ontario</vt:lpstr>
      <vt:lpstr>Tax Revenue Growth Analysis</vt:lpstr>
      <vt:lpstr>Government Expenditures Breakdown</vt:lpstr>
      <vt:lpstr>Spending VS Social Assistance VS Immigration</vt:lpstr>
      <vt:lpstr>Correlation Analysis</vt:lpstr>
      <vt:lpstr>Correlation Analysis </vt:lpstr>
      <vt:lpstr>Regression Analysis </vt:lpstr>
      <vt:lpstr>Immigration VS Revenue collected</vt:lpstr>
      <vt:lpstr>Fiscal Policy Recommendations</vt:lpstr>
      <vt:lpstr>Conclusion &amp; Final Thoughts</vt:lpstr>
      <vt:lpstr>Q&amp;A Session &amp;  Discussion</vt:lpstr>
      <vt:lpstr>Do you think immigration should be viewed primarily as an economic strategy rather than a social policy?   </vt:lpstr>
      <vt:lpstr>Ontario’s economy depends on skilled immigrants—how can we better integrate them into the labor market while reducing fiscal strain? </vt:lpstr>
      <vt:lpstr>With immigration fueling population growth, how should Ontario adjust its healthcare and education budgets to ensure sustainability? </vt:lpstr>
      <vt:lpstr>Based on the data presented, how do you think Ontario’s immigration policies should evolve in the next decade? </vt:lpstr>
      <vt:lpstr>If immigrants contribute billions in tax revenue, should Ontario offer more targeted tax incentives for newcomers? What impact might this have? </vt:lpstr>
      <vt:lpstr>Would decentralizing immigration—encouraging newcomers to settle outside major cities—help balance regional economies? What challenges might arise? </vt:lpstr>
      <vt:lpstr>What’s your perspective on social assistance programs for immigrants? Should eligibility criteria be adjusted to focus on long-term financial independence? </vt:lpstr>
      <vt:lpstr>Should the government invest more in immigration support programs—or would it be more beneficial to focus on economic self-sufficiency among newcomers?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Ehsan</dc:creator>
  <cp:lastModifiedBy>Saad Ehsan</cp:lastModifiedBy>
  <cp:revision>1</cp:revision>
  <cp:lastPrinted>2012-08-15T21:38:02Z</cp:lastPrinted>
  <dcterms:created xsi:type="dcterms:W3CDTF">2025-05-26T14:09:07Z</dcterms:created>
  <dcterms:modified xsi:type="dcterms:W3CDTF">2025-12-23T15:17:02Z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